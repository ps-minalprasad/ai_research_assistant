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BUG TREND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3C5FD"/>
                </a:solidFill>
              </a:rPr>
              <a:t>USING ATLASSIAN MCP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BD5E1"/>
                </a:solidFill>
              </a:rPr>
              <a:t>Jira Defect Data • Trend Analysis • Root Cause Categorization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</a:rPr>
              <a:t>L1 Certification Assignment  •  July 17,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5270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MCP Architecture &amp; Setup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1854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Bug Data Collection (Jira)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871216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71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8437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Bug Frequency Trend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29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502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Severity &amp; Component Analysis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18795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Resolution Time Analysis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8188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Root Cause Analysis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" y="550468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504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547725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Recommendations &amp; Conclusion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HOW THIS ANALYSIS WAS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MCP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Claude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(MCP Client)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63240" y="2834640"/>
            <a:ext cx="411480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7" name="Shape 5"/>
          <p:cNvSpPr/>
          <p:nvPr/>
        </p:nvSpPr>
        <p:spPr>
          <a:xfrm>
            <a:off x="3520440" y="237744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1E3A8A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23774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Atlassian Remote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MCP Server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2834640"/>
            <a:ext cx="411480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37744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3774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Jira Issue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Repository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23960" y="2834640"/>
            <a:ext cx="411480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3" name="Shape 11"/>
          <p:cNvSpPr/>
          <p:nvPr/>
        </p:nvSpPr>
        <p:spPr>
          <a:xfrm>
            <a:off x="9281160" y="237744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9281160" y="23774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Bug Trend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Analysis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</a:rPr>
              <a:t>Claude authenticates via OAuth through Anthropic's Atlassian Remote MCP server — no credentials are handled directly by Claude. All reads/writes to Jira happen as authorized MCP tool calls.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STEP 2–3: JIRA RETRIEVAL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Bug Data Collection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20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Bug 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6916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423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Modules Covered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6916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35040" y="2423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Discovery Phases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32520" y="155448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/>
        </p:spPr>
      </p:sp>
      <p:sp>
        <p:nvSpPr>
          <p:cNvPr id="14" name="Text 12"/>
          <p:cNvSpPr/>
          <p:nvPr/>
        </p:nvSpPr>
        <p:spPr>
          <a:xfrm>
            <a:off x="8732520" y="16916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SCRUM-5–24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732520" y="2423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Issue Range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Tools used: getAccessibleAtlassianResources → searchJiraIssuesUsingJql → createJiraIssue (fill gaps) → getJiraIssue (verification)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Modules: Authentication • Payment • Backend API • Database • Frontend • Notifications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Each record includes: Issue Key, Type, Summary, Description, Priority, Status, Created/Resolved Date, Component, Reporter, Assignee, Testing Phase Found, Root Cause Category.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STEP 4.1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Bug Frequency Trend</a:t>
            </a:r>
            <a:endParaRPr lang="en-US" sz="3000" dirty="0"/>
          </a:p>
        </p:txBody>
      </p:sp>
      <p:pic>
        <p:nvPicPr>
          <p:cNvPr id="4" name="Image 0" descr="chart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463040"/>
            <a:ext cx="978408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STEP 4.2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Severity Analysis</a:t>
            </a:r>
            <a:endParaRPr lang="en-US" sz="3000" dirty="0"/>
          </a:p>
        </p:txBody>
      </p:sp>
      <p:pic>
        <p:nvPicPr>
          <p:cNvPr id="4" name="Image 0" descr="chart_seve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76072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737360"/>
            <a:ext cx="22860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3"/>
          <p:cNvSpPr/>
          <p:nvPr/>
        </p:nvSpPr>
        <p:spPr>
          <a:xfrm>
            <a:off x="713232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Highest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326880" y="17373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4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766560" y="2651760"/>
            <a:ext cx="228600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0" y="2651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High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326880" y="26517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7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766560" y="3566160"/>
            <a:ext cx="2286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0" y="3566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Medium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326880" y="35661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6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766560" y="4480560"/>
            <a:ext cx="228600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0" y="4480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Low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326880" y="44805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766560" y="5394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55% of bugs are High or Highest severity — concentrated in Payment &amp; Backend API.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STEP 4.3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Component Analysis</a:t>
            </a:r>
            <a:endParaRPr lang="en-US" sz="3000" dirty="0"/>
          </a:p>
        </p:txBody>
      </p:sp>
      <p:pic>
        <p:nvPicPr>
          <p:cNvPr id="4" name="Image 0" descr="chart_compon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103327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STEP 4.4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Resolution Time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4.09 days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Average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46304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E3A8A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15544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1.0 day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51960" y="2240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Minimum (SCRUM-17)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146304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15544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12.5 days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863840" y="2240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Maximum (SCRUM-7)</a:t>
            </a:r>
            <a:endParaRPr lang="en-US" sz="1200" dirty="0"/>
          </a:p>
        </p:txBody>
      </p:sp>
      <p:pic>
        <p:nvPicPr>
          <p:cNvPr id="13" name="Image 0" descr="chart_re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063240"/>
            <a:ext cx="1060704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STEP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Root Cause Analysis</a:t>
            </a:r>
            <a:endParaRPr lang="en-US" sz="3000" dirty="0"/>
          </a:p>
        </p:txBody>
      </p:sp>
      <p:pic>
        <p:nvPicPr>
          <p:cNvPr id="4" name="Image 0" descr="chart_rootca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21208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0" y="16002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Coding Defects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241280" y="1600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30%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35040" y="22860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Design/Architecture Issues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241280" y="22860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25%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035040" y="29718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Requirement Gaps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241280" y="29718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15%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35040" y="36576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Process/Tooling Issues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241280" y="3657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15%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035040" y="43434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Testing Gaps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241280" y="4343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10%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035040" y="50292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Human Factors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241280" y="5029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5%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035040" y="58064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Coding Defects + Design/Architecture Issues = 55% of all bugs.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STEPS 9–10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Recommendations &amp; 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5448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Better requirement gathering — spell out edge cases in acceptance criteria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231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More test automation — idempotency, retry &amp; timezone edge cases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918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Stronger code review — mandatory 2nd reviewer on payments/auth/webhooks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55448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Expanded regression testing — re-test SSO &amp; data-consistency paths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246888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4231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CI/CD quality checks — automated index &amp; slow-query detection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9360" y="333756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32918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Better cross-team communication — design checkpoint before build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486400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3A8A"/>
                </a:solidFill>
              </a:rPr>
              <a:t>Coding Defects and Design/Architecture Issues drive over half of all defects — closing that gap through stronger review and edge-case testing is the highest-leverage next step.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2026-07-17T09:36:12Z</dcterms:created>
  <dcterms:modified xsi:type="dcterms:W3CDTF">2026-07-17T09:36:12Z</dcterms:modified>
</cp:coreProperties>
</file>